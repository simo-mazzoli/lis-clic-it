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033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9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178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96631" y="2003889"/>
            <a:ext cx="4523699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3600"/>
            </a:lvl1pPr>
            <a:lvl2pPr lvl="1">
              <a:spcBef>
                <a:spcPts val="0"/>
              </a:spcBef>
              <a:buSzPct val="100000"/>
              <a:defRPr sz="3600"/>
            </a:lvl2pPr>
            <a:lvl3pPr lvl="2">
              <a:spcBef>
                <a:spcPts val="0"/>
              </a:spcBef>
              <a:buSzPct val="100000"/>
              <a:defRPr sz="3600"/>
            </a:lvl3pPr>
            <a:lvl4pPr lvl="3">
              <a:spcBef>
                <a:spcPts val="0"/>
              </a:spcBef>
              <a:buSzPct val="100000"/>
              <a:defRPr sz="3600"/>
            </a:lvl4pPr>
            <a:lvl5pPr lvl="4">
              <a:spcBef>
                <a:spcPts val="0"/>
              </a:spcBef>
              <a:buSzPct val="100000"/>
              <a:defRPr sz="3600"/>
            </a:lvl5pPr>
            <a:lvl6pPr lvl="5">
              <a:spcBef>
                <a:spcPts val="0"/>
              </a:spcBef>
              <a:buSzPct val="100000"/>
              <a:defRPr sz="3600"/>
            </a:lvl6pPr>
            <a:lvl7pPr lvl="6">
              <a:spcBef>
                <a:spcPts val="0"/>
              </a:spcBef>
              <a:buSzPct val="100000"/>
              <a:defRPr sz="3600"/>
            </a:lvl7pPr>
            <a:lvl8pPr lvl="7">
              <a:spcBef>
                <a:spcPts val="0"/>
              </a:spcBef>
              <a:buSzPct val="100000"/>
              <a:defRPr sz="3600"/>
            </a:lvl8pPr>
            <a:lvl9pPr lvl="8">
              <a:spcBef>
                <a:spcPts val="0"/>
              </a:spcBef>
              <a:buSzPct val="100000"/>
              <a:defRPr sz="36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cxnSp>
        <p:nvCxnSpPr>
          <p:cNvPr id="10" name="Shape 10"/>
          <p:cNvCxnSpPr/>
          <p:nvPr/>
        </p:nvCxnSpPr>
        <p:spPr>
          <a:xfrm>
            <a:off x="-6025" y="3676511"/>
            <a:ext cx="1044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Shape 11"/>
          <p:cNvSpPr/>
          <p:nvPr/>
        </p:nvSpPr>
        <p:spPr>
          <a:xfrm>
            <a:off x="1117951" y="3393001"/>
            <a:ext cx="566999" cy="5669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cxnSp>
        <p:nvCxnSpPr>
          <p:cNvPr id="5" name="Shape 10"/>
          <p:cNvCxnSpPr/>
          <p:nvPr/>
        </p:nvCxnSpPr>
        <p:spPr>
          <a:xfrm>
            <a:off x="1756800" y="3675600"/>
            <a:ext cx="7416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Rettangolo 7">
            <a:extLst>
              <a:ext uri="{FF2B5EF4-FFF2-40B4-BE49-F238E27FC236}">
                <a16:creationId xmlns:a16="http://schemas.microsoft.com/office/drawing/2014/main" id="{8F1E58BC-2A76-4BB8-9280-62A7172DD8C2}"/>
              </a:ext>
            </a:extLst>
          </p:cNvPr>
          <p:cNvSpPr/>
          <p:nvPr/>
        </p:nvSpPr>
        <p:spPr>
          <a:xfrm>
            <a:off x="-108520" y="-432000"/>
            <a:ext cx="9433048" cy="956554"/>
          </a:xfrm>
          <a:prstGeom prst="rect">
            <a:avLst/>
          </a:prstGeom>
          <a:solidFill>
            <a:srgbClr val="C5003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5179976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hape 24"/>
          <p:cNvCxnSpPr/>
          <p:nvPr/>
        </p:nvCxnSpPr>
        <p:spPr>
          <a:xfrm flipV="1">
            <a:off x="0" y="2570400"/>
            <a:ext cx="9144000" cy="13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Shape 15"/>
          <p:cNvSpPr/>
          <p:nvPr/>
        </p:nvSpPr>
        <p:spPr>
          <a:xfrm>
            <a:off x="1117951" y="2288251"/>
            <a:ext cx="566999" cy="5669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2022226" y="1693524"/>
            <a:ext cx="3787799" cy="11597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3000"/>
            </a:lvl1pPr>
            <a:lvl2pPr lvl="1" rtl="0">
              <a:spcBef>
                <a:spcPts val="0"/>
              </a:spcBef>
              <a:buSzPct val="100000"/>
              <a:defRPr sz="3000"/>
            </a:lvl2pPr>
            <a:lvl3pPr lvl="2" rtl="0">
              <a:spcBef>
                <a:spcPts val="0"/>
              </a:spcBef>
              <a:buSzPct val="100000"/>
              <a:defRPr sz="3000"/>
            </a:lvl3pPr>
            <a:lvl4pPr lvl="3" rtl="0">
              <a:spcBef>
                <a:spcPts val="0"/>
              </a:spcBef>
              <a:buSzPct val="100000"/>
              <a:defRPr sz="3000"/>
            </a:lvl4pPr>
            <a:lvl5pPr lvl="4" rtl="0">
              <a:spcBef>
                <a:spcPts val="0"/>
              </a:spcBef>
              <a:buSzPct val="100000"/>
              <a:defRPr sz="3000"/>
            </a:lvl5pPr>
            <a:lvl6pPr lvl="5" rtl="0">
              <a:spcBef>
                <a:spcPts val="0"/>
              </a:spcBef>
              <a:buSzPct val="100000"/>
              <a:defRPr sz="3000"/>
            </a:lvl6pPr>
            <a:lvl7pPr lvl="6" rtl="0">
              <a:spcBef>
                <a:spcPts val="0"/>
              </a:spcBef>
              <a:buSzPct val="100000"/>
              <a:defRPr sz="3000"/>
            </a:lvl7pPr>
            <a:lvl8pPr lvl="7" rtl="0">
              <a:spcBef>
                <a:spcPts val="0"/>
              </a:spcBef>
              <a:buSzPct val="100000"/>
              <a:defRPr sz="3000"/>
            </a:lvl8pPr>
            <a:lvl9pPr lvl="8" rtl="0">
              <a:spcBef>
                <a:spcPts val="0"/>
              </a:spcBef>
              <a:buSzPct val="100000"/>
              <a:defRPr sz="30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hape 99"/>
          <p:cNvSpPr txBox="1">
            <a:spLocks noGrp="1"/>
          </p:cNvSpPr>
          <p:nvPr>
            <p:ph type="subTitle" idx="4294967295"/>
          </p:nvPr>
        </p:nvSpPr>
        <p:spPr>
          <a:xfrm>
            <a:off x="2022300" y="2815924"/>
            <a:ext cx="5591400" cy="784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/>
              <a:t>Click to edit Master subtitle style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585927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hape 24"/>
          <p:cNvCxnSpPr/>
          <p:nvPr/>
        </p:nvCxnSpPr>
        <p:spPr>
          <a:xfrm flipV="1">
            <a:off x="0" y="2570400"/>
            <a:ext cx="9144000" cy="13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Shape 15"/>
          <p:cNvSpPr/>
          <p:nvPr/>
        </p:nvSpPr>
        <p:spPr>
          <a:xfrm>
            <a:off x="4293034" y="2288251"/>
            <a:ext cx="566999" cy="5669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2411760" y="411647"/>
            <a:ext cx="4320480" cy="1591890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3000"/>
            </a:lvl2pPr>
            <a:lvl3pPr lvl="2" rtl="0">
              <a:spcBef>
                <a:spcPts val="0"/>
              </a:spcBef>
              <a:buSzPct val="100000"/>
              <a:defRPr sz="3000"/>
            </a:lvl3pPr>
            <a:lvl4pPr lvl="3" rtl="0">
              <a:spcBef>
                <a:spcPts val="0"/>
              </a:spcBef>
              <a:buSzPct val="100000"/>
              <a:defRPr sz="3000"/>
            </a:lvl4pPr>
            <a:lvl5pPr lvl="4" rtl="0">
              <a:spcBef>
                <a:spcPts val="0"/>
              </a:spcBef>
              <a:buSzPct val="100000"/>
              <a:defRPr sz="3000"/>
            </a:lvl5pPr>
            <a:lvl6pPr lvl="5" rtl="0">
              <a:spcBef>
                <a:spcPts val="0"/>
              </a:spcBef>
              <a:buSzPct val="100000"/>
              <a:defRPr sz="3000"/>
            </a:lvl6pPr>
            <a:lvl7pPr lvl="6" rtl="0">
              <a:spcBef>
                <a:spcPts val="0"/>
              </a:spcBef>
              <a:buSzPct val="100000"/>
              <a:defRPr sz="3000"/>
            </a:lvl7pPr>
            <a:lvl8pPr lvl="7" rtl="0">
              <a:spcBef>
                <a:spcPts val="0"/>
              </a:spcBef>
              <a:buSzPct val="100000"/>
              <a:defRPr sz="3000"/>
            </a:lvl8pPr>
            <a:lvl9pPr lvl="8" rtl="0">
              <a:spcBef>
                <a:spcPts val="0"/>
              </a:spcBef>
              <a:buSzPct val="100000"/>
              <a:defRPr sz="30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hape 99"/>
          <p:cNvSpPr txBox="1">
            <a:spLocks noGrp="1"/>
          </p:cNvSpPr>
          <p:nvPr>
            <p:ph type="subTitle" idx="4294967295"/>
          </p:nvPr>
        </p:nvSpPr>
        <p:spPr>
          <a:xfrm>
            <a:off x="971601" y="3137400"/>
            <a:ext cx="7200800" cy="159418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buClr>
                <a:srgbClr val="C00000"/>
              </a:buClr>
              <a:buFont typeface="Arial" panose="020B0604020202020204" pitchFamily="34" charset="0"/>
              <a:buChar char="•"/>
              <a:defRPr/>
            </a:lvl1pPr>
          </a:lstStyle>
          <a:p>
            <a:pPr lvl="0" rtl="0">
              <a:spcBef>
                <a:spcPts val="0"/>
              </a:spcBef>
              <a:buNone/>
            </a:pPr>
            <a:r>
              <a:rPr lang="en-US"/>
              <a:t>Click to edit Master subtitle style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4616141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ape 24"/>
          <p:cNvCxnSpPr/>
          <p:nvPr/>
        </p:nvCxnSpPr>
        <p:spPr>
          <a:xfrm flipV="1">
            <a:off x="0" y="1131591"/>
            <a:ext cx="9144000" cy="13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5" name="Shape 25"/>
          <p:cNvSpPr/>
          <p:nvPr/>
        </p:nvSpPr>
        <p:spPr>
          <a:xfrm>
            <a:off x="817476" y="928767"/>
            <a:ext cx="405899" cy="4058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1381251" y="922669"/>
            <a:ext cx="3878399" cy="4355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457189" lvl="0" indent="-341992" rtl="0">
              <a:spcBef>
                <a:spcPts val="0"/>
              </a:spcBef>
              <a:spcAft>
                <a:spcPts val="1200"/>
              </a:spcAft>
              <a:buClr>
                <a:srgbClr val="C50033"/>
              </a:buClr>
              <a:buSzPct val="100000"/>
              <a:buFont typeface="Quattrocento Sans"/>
              <a:buChar char="◉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B3FDDBC-A03E-4A5D-8954-EB9DDBA88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AD5E55-6515-4B16-97BA-075885A47D1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43327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letely 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CBA9BD7-DEC3-4D0B-9EE4-EF38CB9FD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AD5E55-6515-4B16-97BA-075885A47D1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35721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+ 1 column">
    <p:bg>
      <p:bgPr>
        <a:solidFill>
          <a:srgbClr val="C50033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ape 24"/>
          <p:cNvCxnSpPr/>
          <p:nvPr/>
        </p:nvCxnSpPr>
        <p:spPr>
          <a:xfrm flipV="1">
            <a:off x="0" y="1131591"/>
            <a:ext cx="9144000" cy="13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5" name="Shape 25"/>
          <p:cNvSpPr/>
          <p:nvPr/>
        </p:nvSpPr>
        <p:spPr>
          <a:xfrm>
            <a:off x="817476" y="928767"/>
            <a:ext cx="405899" cy="4058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1381251" y="922669"/>
            <a:ext cx="3878399" cy="435599"/>
          </a:xfrm>
          <a:prstGeom prst="rect">
            <a:avLst/>
          </a:prstGeom>
          <a:solidFill>
            <a:srgbClr val="C50033"/>
          </a:solidFill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buFont typeface="Lora"/>
              <a:buNone/>
              <a:defRPr sz="2000" b="1">
                <a:solidFill>
                  <a:schemeClr val="bg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buSzPct val="100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ound2DiagRect">
            <a:avLst/>
          </a:prstGeom>
          <a:solidFill>
            <a:schemeClr val="bg1"/>
          </a:solidFill>
        </p:spPr>
        <p:txBody>
          <a:bodyPr lIns="91425" tIns="91425" rIns="91425" bIns="91425" anchor="t" anchorCtr="0"/>
          <a:lstStyle>
            <a:lvl1pPr marL="457189" lvl="0" indent="-341992" rtl="0">
              <a:spcBef>
                <a:spcPts val="0"/>
              </a:spcBef>
              <a:spcAft>
                <a:spcPts val="1200"/>
              </a:spcAft>
              <a:buClr>
                <a:srgbClr val="C50033"/>
              </a:buClr>
              <a:buSzPct val="100000"/>
              <a:buFont typeface="Quattrocento Sans"/>
              <a:buChar char="◉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78933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_background">
    <p:bg>
      <p:bgPr>
        <a:solidFill>
          <a:srgbClr val="C5003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2022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hape 24"/>
          <p:cNvCxnSpPr/>
          <p:nvPr/>
        </p:nvCxnSpPr>
        <p:spPr>
          <a:xfrm flipV="1">
            <a:off x="0" y="1131591"/>
            <a:ext cx="9144000" cy="13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7" name="Shape 47"/>
          <p:cNvSpPr/>
          <p:nvPr/>
        </p:nvSpPr>
        <p:spPr>
          <a:xfrm>
            <a:off x="817476" y="928767"/>
            <a:ext cx="405899" cy="4058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1381250" y="921601"/>
            <a:ext cx="6809700" cy="435599"/>
          </a:xfrm>
          <a:solidFill>
            <a:schemeClr val="lt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9B6E42D-2185-4206-BCCC-806CB9583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AD5E55-6515-4B16-97BA-075885A47D1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30259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3F43-82EC-B6C3-2B1F-147C0093F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8A693-DF0C-30C9-DF13-FE8390A42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8208C-D45C-0881-6968-4BFF8708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2675-53EA-4FFE-9098-513468B0879D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C51C4-C37D-107F-3EB1-F9DCA196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CCAEA-2959-BEE5-F9C1-85F24379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D5E55-6515-4B16-97BA-075885A47D1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16909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E984-E912-667D-E650-04B2C955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E2FAB-5F12-F7DC-7D30-BB73A011E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DEFB5-FA6F-C5D3-4864-32F741D8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2675-53EA-4FFE-9098-513468B0879D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9EBF-DC69-3011-6571-6EF8093A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D289-98BE-AF11-1BF7-6E0E2BF4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D5E55-6515-4B16-97BA-075885A47D1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911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03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FFCD00"/>
              </a:buClr>
              <a:buSzPct val="1000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1381250" y="937117"/>
            <a:ext cx="6809700" cy="43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35224B5-44FF-4E63-AEBE-3799CB115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088" y="476726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D5E55-6515-4B16-97BA-075885A47D1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91629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C50033"/>
        </a:buClr>
        <a:buFont typeface="Quattrocento Sans" pitchFamily="34" charset="0"/>
        <a:buChar char="◉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291840" y="50292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FFCD00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91840" y="502920"/>
            <a:ext cx="2560320" cy="34747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Progetto di Ricerca · LIS NLP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LIS-GenDB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Automatica di Dataset Annotati per la</a:t>
            </a:r>
            <a:endParaRPr lang="en-US" sz="1600" dirty="0">
              <a:solidFill>
                <a:srgbClr val="FFCD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dei Segni Italiana tramite LLM e RAG</a:t>
            </a:r>
            <a:endParaRPr lang="en-US" sz="1600" dirty="0">
              <a:solidFill>
                <a:srgbClr val="FFCD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0" y="2834640"/>
            <a:ext cx="2194560" cy="36576"/>
          </a:xfrm>
          <a:prstGeom prst="rect">
            <a:avLst/>
          </a:prstGeom>
          <a:solidFill>
            <a:srgbClr val="FFCD00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 ·  JSON Annotation  ·  RAG Guidelines  ·  Linguistic Subsets</a:t>
            </a:r>
            <a:endParaRPr lang="en-US" sz="1000" dirty="0">
              <a:solidFill>
                <a:srgbClr val="FFCD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Motivazione e Contesto</a:t>
            </a:r>
            <a:endParaRPr lang="en-US" sz="2200" dirty="0">
              <a:latin typeface="Quattrocento Sans" panose="020B05020500000200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bg1"/>
                </a:solidFill>
                <a:latin typeface="Quattrocento Sans" panose="020B0502050000020003" pitchFamily="34" charset="0"/>
              </a:rPr>
              <a:t>02</a:t>
            </a:r>
            <a:endParaRPr lang="en-US" sz="28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64008" cy="352044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Scarsità di dati annotati
</a:t>
            </a:r>
            <a:r>
              <a:rPr lang="en-US" sz="1100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La LIS è una lingua naturale visivo-gestuale priva di sistemi di scrittura standardizzati e con pochissime risorse NLP.
</a:t>
            </a: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Gap nei modelli linguistici
</a:t>
            </a:r>
            <a:r>
              <a:rPr lang="en-US" sz="1100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Nessun LLM è stato fine-tuned specificamente sulla struttura morfo-sintattica della LIS (ordine SOV, classificatori, morfologia dello spazio).
</a:t>
            </a: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Barriere di accessibilità
</a:t>
            </a:r>
            <a:r>
              <a:rPr lang="en-US" sz="1100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Circa 60.000–90.000 sordi in Italia (ISTAT 2019) necessitano di strumenti digitali che oggi non esistono.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64008" cy="352044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Perché un LLM?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Scalabilità
</a:t>
            </a:r>
            <a:r>
              <a:rPr lang="en-US" sz="1100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Generazione di migliaia di frasi annotate a basso costo rispetto all'annotazione manuale da parte di esperti.
</a:t>
            </a: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RAG + linee guida
</a:t>
            </a:r>
            <a:r>
              <a:rPr lang="en-US" sz="1100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Conoscenza grammaticale della LIS iniettata via Retrieval-Augmented Generation, compensando le limitazioni del modello.
</a:t>
            </a: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Dataset seed controllato
</a:t>
            </a:r>
            <a:r>
              <a:rPr lang="en-US" sz="1100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Lexicon di segni pre-annotati come ancoraggio empirico, evitando allucinazioni sulla realizzazione fonologica.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Obiettivi del Progetto</a:t>
            </a:r>
            <a:endParaRPr lang="en-US" sz="2200" dirty="0">
              <a:latin typeface="Quattrocento Sans" panose="020B05020500000200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bg1"/>
                </a:solidFill>
                <a:latin typeface="Quattrocento Sans" panose="020B0502050000020003" pitchFamily="34" charset="0"/>
              </a:rPr>
              <a:t>03</a:t>
            </a:r>
            <a:endParaRPr lang="en-US" sz="28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>
              <a:latin typeface="Quattrocento Sans" panose="020B05020500000200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64008" cy="11430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4632" y="1371600"/>
            <a:ext cx="411480" cy="411480"/>
          </a:xfrm>
          <a:prstGeom prst="ellipse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>
              <a:latin typeface="Quattrocento Sans" panose="020B05020500000200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411480" cy="411480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01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3272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Dataset strutturato per il fine-tuning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3272" y="1463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Produrre un corpus di frasi LIS in formato JSON annotato, pronto per il fine-tuning di modelli seq2seq o token-classification.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64008" cy="11430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19472" y="1371600"/>
            <a:ext cx="411480" cy="411480"/>
          </a:xfrm>
          <a:prstGeom prst="ellipse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19472" y="1371600"/>
            <a:ext cx="411480" cy="411480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02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68112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Copertura di fenomeni linguistici chiave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68112" y="1463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Focalizzarsi su subset morfosintattici specifici: coreferenza nello spazio, verbi flessivi/spaziali, interrogative polari (Q-WH), frasi affermative SOV.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64008" cy="11430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" y="2697480"/>
            <a:ext cx="411480" cy="411480"/>
          </a:xfrm>
          <a:prstGeom prst="ellipse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" y="2697480"/>
            <a:ext cx="411480" cy="411480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03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33272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Formato di annotazione estensibile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3272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Definire uno schema JSON per i parametri fonologici (configurazione della mano, luogo, movimento, orientamento, NMF) e sintattici.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64008" cy="11430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19472" y="2697480"/>
            <a:ext cx="411480" cy="411480"/>
          </a:xfrm>
          <a:prstGeom prst="ellipse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19472" y="2697480"/>
            <a:ext cx="411480" cy="411480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04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68112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Linee guida RAG per la generazione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68112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Creare una knowledge base delle regole grammaticali LIS usabile via RAG per guidare il LLM durante la generazione di nuove frasi.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37033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64008" cy="11430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4632" y="4023360"/>
            <a:ext cx="411480" cy="411480"/>
          </a:xfrm>
          <a:prstGeom prst="ellipse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4632" y="4023360"/>
            <a:ext cx="411480" cy="411480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05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33272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Validazione con esperti LIS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33272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Sottoporre un campione del dataset a revisione da parte di interpreti LIS certificati e/o ricercatori di linguistica dei segni.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37033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3703320"/>
            <a:ext cx="64008" cy="11430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919472" y="4023360"/>
            <a:ext cx="411480" cy="411480"/>
          </a:xfrm>
          <a:prstGeom prst="ellipse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19472" y="4023360"/>
            <a:ext cx="411480" cy="411480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06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68112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Rilascio open-source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68112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Pubblicare il dataset, il codice della pipeline e le linee guida come risorsa pubblica per la comunità NLP e della LIS.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Architettura della Pipeline</a:t>
            </a:r>
            <a:endParaRPr lang="en-US" sz="2200" dirty="0">
              <a:latin typeface="Quattrocento Sans" panose="020B05020500000200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bg1"/>
                </a:solidFill>
                <a:latin typeface="Quattrocento Sans" panose="020B0502050000020003" pitchFamily="34" charset="0"/>
              </a:rPr>
              <a:t>04</a:t>
            </a:r>
            <a:endParaRPr lang="en-US" sz="28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234440" cy="9144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234440" cy="457200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Lexicon</a:t>
            </a:r>
            <a:endParaRPr lang="en-US" sz="105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234440" cy="402336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Segni annotati</a:t>
            </a:r>
            <a:endParaRPr lang="en-US" sz="80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manualmente</a:t>
            </a:r>
            <a:endParaRPr lang="en-US" sz="800" dirty="0">
              <a:latin typeface="Quattrocento Sans" panose="020B05020500000200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91056" y="1645920"/>
            <a:ext cx="146304" cy="0"/>
          </a:xfrm>
          <a:prstGeom prst="line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73936" y="1188720"/>
            <a:ext cx="1234440" cy="9144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73936" y="1234440"/>
            <a:ext cx="1234440" cy="457200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73936" y="1664208"/>
            <a:ext cx="1234440" cy="402336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Regole grammaticali</a:t>
            </a:r>
            <a:endParaRPr lang="en-US" sz="80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LIS in KB vettoriale</a:t>
            </a:r>
            <a:endParaRPr lang="en-US" sz="800" dirty="0">
              <a:latin typeface="Quattrocento Sans" panose="020B05020500000200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44952" y="1645920"/>
            <a:ext cx="146304" cy="0"/>
          </a:xfrm>
          <a:prstGeom prst="line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27832" y="1188720"/>
            <a:ext cx="1234440" cy="9144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27832" y="1234440"/>
            <a:ext cx="1234440" cy="457200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Engineer.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27832" y="1664208"/>
            <a:ext cx="1234440" cy="402336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Template per</a:t>
            </a:r>
            <a:endParaRPr lang="en-US" sz="80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fenomeno target</a:t>
            </a:r>
            <a:endParaRPr lang="en-US" sz="8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98848" y="1645920"/>
            <a:ext cx="146304" cy="0"/>
          </a:xfrm>
          <a:prstGeom prst="line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81728" y="1188720"/>
            <a:ext cx="1234440" cy="9144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81728" y="1234440"/>
            <a:ext cx="1234440" cy="457200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81728" y="1664208"/>
            <a:ext cx="1234440" cy="402336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Claude/GPT genera</a:t>
            </a:r>
            <a:endParaRPr lang="en-US" sz="80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frasi annotate JSON</a:t>
            </a:r>
            <a:endParaRPr lang="en-US" sz="800" dirty="0">
              <a:latin typeface="Quattrocento Sans" panose="020B05020500000200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52744" y="1645920"/>
            <a:ext cx="146304" cy="0"/>
          </a:xfrm>
          <a:prstGeom prst="line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35624" y="1188720"/>
            <a:ext cx="1234440" cy="9144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35624" y="1234440"/>
            <a:ext cx="1234440" cy="457200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Validazione</a:t>
            </a:r>
            <a:endParaRPr lang="en-US" sz="105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Automatica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35624" y="1664208"/>
            <a:ext cx="1234440" cy="402336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Schema check</a:t>
            </a:r>
            <a:endParaRPr lang="en-US" sz="80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+ rule-based filter</a:t>
            </a:r>
            <a:endParaRPr lang="en-US" sz="800" dirty="0">
              <a:latin typeface="Quattrocento Sans" panose="020B05020500000200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06640" y="1645920"/>
            <a:ext cx="146304" cy="0"/>
          </a:xfrm>
          <a:prstGeom prst="line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89520" y="1188720"/>
            <a:ext cx="1234440" cy="91440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89520" y="1234440"/>
            <a:ext cx="1234440" cy="457200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89520" y="1664208"/>
            <a:ext cx="1234440" cy="402336"/>
          </a:xfrm>
          <a:prstGeom prst="rect">
            <a:avLst/>
          </a:prstGeom>
          <a:solidFill>
            <a:srgbClr val="C500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800" dirty="0">
              <a:latin typeface="Quattrocento Sans" panose="020B0502050000020003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ready JSON</a:t>
            </a:r>
            <a:endParaRPr lang="en-US" sz="800" dirty="0">
              <a:latin typeface="Quattrocento Sans" panose="020B0502050000020003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004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" y="2468880"/>
            <a:ext cx="64008" cy="233172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" y="25603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Input al LLM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292608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Segni dal lexicon seed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Regole recuperate via RAG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Fenomeno target specificato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Esempi few-shot dal subset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29184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91840" y="2468880"/>
            <a:ext cx="64008" cy="233172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474720" y="25603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Output strutturato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474720" y="292608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Gloss LIS (ordine lineare)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Parametri fonologici per segno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Etichette sintattiche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NMF (espressioni non-manuali)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6364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63640" y="2468880"/>
            <a:ext cx="64008" cy="233172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46520" y="25603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Controllo qualità</a:t>
            </a:r>
            <a:endParaRPr lang="en-US" sz="1100" dirty="0">
              <a:latin typeface="Quattrocento Sans" panose="020B05020500000200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46520" y="292608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JSON schema validation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Consistency check lessicale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Revisione campione manuale</a:t>
            </a:r>
            <a:endParaRPr lang="en-US" sz="95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Inter-annotator agreement</a:t>
            </a:r>
            <a:endParaRPr lang="en-US" sz="950" dirty="0"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 Annotazione JSON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bg1"/>
                </a:solidFill>
              </a:rPr>
              <a:t>05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75488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3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457200" y="13213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"LIS-0042",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57200" y="15453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"gloss": ["IX-1", "LIBRO", "LEGGERE"],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7200" y="17693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7C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"translation_it": "Io leggo il libro.",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7C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"phenomenon": "affermativa_SOV",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57200" y="22174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"signs": [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57200" y="26654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"gloss": "LEGGERE",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57200" y="28895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"handshape": "B",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57200" y="31135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"location": "fronte",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"movement": "basso_ripetuto",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57200" y="35615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"palm_orient": "verso_signer",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57200" y="378561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"NMF": null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57200" y="40096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57200" y="44577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349240" y="100584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349240" y="1005840"/>
            <a:ext cx="64008" cy="1737360"/>
          </a:xfrm>
          <a:prstGeom prst="rect">
            <a:avLst/>
          </a:prstGeom>
          <a:solidFill>
            <a:srgbClr val="C50033"/>
          </a:solidFill>
          <a:ln w="12700">
            <a:solidFill>
              <a:srgbClr val="C500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53212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350"/>
                </a:solidFill>
              </a:rPr>
              <a:t>Livello Fonologico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14630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9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handshape · </a:t>
            </a:r>
            <a:r>
              <a:rPr lang="en-US" sz="9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della mano (HamNoSys / Stokoe)
</a:t>
            </a:r>
            <a:r>
              <a:rPr lang="en-US" sz="900" b="1" dirty="0">
                <a:solidFill>
                  <a:srgbClr val="0C9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</a:t>
            </a:r>
            <a:r>
              <a:rPr lang="en-US" sz="9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Luogo di articolazione (fronte, torace, neutro…)
</a:t>
            </a:r>
            <a:r>
              <a:rPr lang="en-US" sz="900" b="1" dirty="0">
                <a:solidFill>
                  <a:srgbClr val="0C9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· </a:t>
            </a:r>
            <a:r>
              <a:rPr lang="en-US" sz="9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e direzione del movimento
</a:t>
            </a:r>
            <a:r>
              <a:rPr lang="en-US" sz="900" b="1" dirty="0">
                <a:solidFill>
                  <a:srgbClr val="0C9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palm_orient · </a:t>
            </a:r>
            <a:r>
              <a:rPr lang="en-US" sz="9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Orientamento del palmo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9240" y="283464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5349240" y="2834640"/>
            <a:ext cx="64008" cy="914400"/>
          </a:xfrm>
          <a:prstGeom prst="rect">
            <a:avLst/>
          </a:prstGeom>
          <a:solidFill>
            <a:srgbClr val="C50033"/>
          </a:solidFill>
          <a:ln w="12700">
            <a:solidFill>
              <a:srgbClr val="C500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53212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350"/>
                </a:solidFill>
              </a:rPr>
              <a:t>Livello Non-Manuale (NMF)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3273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Sopracciglia, posizione della testa, movimento delle labbra, sguardo. Fondamentale per interrogative e negazioni.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384048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5349240" y="3840480"/>
            <a:ext cx="64008" cy="868680"/>
          </a:xfrm>
          <a:prstGeom prst="rect">
            <a:avLst/>
          </a:prstGeom>
          <a:solidFill>
            <a:srgbClr val="C50033"/>
          </a:solidFill>
          <a:ln w="12700">
            <a:solidFill>
              <a:srgbClr val="C500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53212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350"/>
                </a:solidFill>
              </a:rPr>
              <a:t>Livello Sintattico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42793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 · ordine SOV/topicalization · loci spaziali · tipo di frase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solidFill>
              <a:srgbClr val="C50033"/>
            </a:solidFill>
            <a:prstDash val="solid"/>
          </a:ln>
        </p:spPr>
        <p:txBody>
          <a:bodyPr/>
          <a:lstStyle/>
          <a:p>
            <a:pPr>
              <a:tabLst>
                <a:tab pos="8069263" algn="l"/>
              </a:tabLst>
            </a:pPr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di Fenomeni Linguistici Target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bg1"/>
                </a:solidFill>
              </a:rPr>
              <a:t>06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4008" cy="1261872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84632" y="10789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84632" y="1078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 Affermative (SOV)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166420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 canonico Soggetto–Oggetto–Verbo della LIS. Punto di partenza per il dataset, include topic-comment.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609344"/>
            <a:ext cx="777240" cy="566928"/>
          </a:xfrm>
          <a:prstGeom prst="rect">
            <a:avLst/>
          </a:prstGeom>
          <a:solidFill>
            <a:srgbClr val="0C9BAF">
              <a:alpha val="15000"/>
            </a:srgbClr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474720" y="1609344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C9B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MARIO LIBRO LEGGERE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64008" cy="12618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919472" y="10789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919472" y="1078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Sì/No Questions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Interrogative Polari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9472" y="166420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Accompagnate da NMF specifiche: sopracciglia alzate, inclinazione della testa in avanti, sguardo verso l'interlocutore.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09560" y="1609344"/>
            <a:ext cx="777240" cy="566928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909560" y="1609344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CASA ANDARE↑brows-up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0040" y="2395728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20040" y="2395728"/>
            <a:ext cx="64008" cy="12618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84632" y="2468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84632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Content Questions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" y="2761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Interrogative WH-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" y="305409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Segni WH (COSA, CHI, DOVE, QUANDO) tipicamente in posizione finale; sopracciglia abbassate, testa inclinata.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0" y="2999232"/>
            <a:ext cx="777240" cy="566928"/>
          </a:xfrm>
          <a:prstGeom prst="rect">
            <a:avLst/>
          </a:prstGeom>
          <a:solidFill>
            <a:srgbClr val="9B59B6">
              <a:alpha val="1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474720" y="2999232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MANGIARE COSA↓brows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54880" y="2395728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754880" y="2395728"/>
            <a:ext cx="64008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919472" y="2468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919472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Agreement Verbs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9472" y="2761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 Flessivi / Spaziali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19472" y="305409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 che si modificano nello spazio per codificare soggetto e oggetto (DARE, CHIEDERE, AIUTARE). Cruciali per la morfologia verbale.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09560" y="2999232"/>
            <a:ext cx="777240" cy="566928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909560" y="2999232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1→DARE→3 (io do a lui)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0040" y="3785616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320040" y="3785616"/>
            <a:ext cx="64008" cy="12618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84632" y="385876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84632" y="3858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Loci &amp; Anaphora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" y="41513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Coreferenza Spaziale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4632" y="444398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dei loci nello spazio per stabilire e richiamare referenti. Essenziale per comprendere la struttura del discorso LIS.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74720" y="4389120"/>
            <a:ext cx="777240" cy="566928"/>
          </a:xfrm>
          <a:prstGeom prst="rect">
            <a:avLst/>
          </a:prstGeom>
          <a:solidFill>
            <a:srgbClr val="2ECC71">
              <a:alpha val="15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3474720" y="4389120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MARCO[loc-a] LUI[loc-a] MEDICO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754880" y="3785616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4754880" y="3785616"/>
            <a:ext cx="64008" cy="12618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4919472" y="385876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4919472" y="3858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Negation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19472" y="41513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Negazione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919472" y="444398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Negazione manuale (NON) e non-manuale (scuotimento della testa). Interazione con NMF e ordine degli elementi.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909560" y="4389120"/>
            <a:ext cx="777240" cy="566928"/>
          </a:xfrm>
          <a:prstGeom prst="rect">
            <a:avLst/>
          </a:prstGeom>
          <a:solidFill>
            <a:srgbClr val="1ABC9C">
              <a:alpha val="1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7909560" y="4389120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 CAPIRE NON / NONnmf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solidFill>
              <a:srgbClr val="C500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Lessicale Seed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C9BAF"/>
                </a:solidFill>
              </a:rPr>
              <a:t>07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200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4008" cy="3794760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0"/>
                </a:solidFill>
              </a:rPr>
              <a:t>Perché è necessario?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L'LLM non può conoscere a priori la realizzazione articolatoria di un segno. </a:t>
            </a:r>
            <a:r>
              <a:rPr lang="en-US" sz="1000" i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lexicon pre-annotato funge da àncora empirica
</a:t>
            </a: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seed impedisce:
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Allucinazioni fonologiche (segni inventati)
• Incoerenze trascrittive tra voci del dataset
• Violazioni dei parametri cheremi reali
</a:t>
            </a: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suggerite:
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Dizionario LIS Maricchiolo &amp; Volterra (CNR)
• SpreadTheSign (database europeo)
• Video-corpus ATLAS (Università di Bologna)
• Revisione da interpreti LIS certificati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005840"/>
            <a:ext cx="5029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794760" y="1005840"/>
            <a:ext cx="64008" cy="3794760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977640" y="1097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350"/>
                </a:solidFill>
              </a:rPr>
              <a:t>Struttura del Lexicon Seed (esempio)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508760"/>
          <a:ext cx="4617720" cy="2926080"/>
        </p:xfrm>
        <a:graphic>
          <a:graphicData uri="http://schemas.openxmlformats.org/drawingml/2006/table">
            <a:tbl>
              <a:tblPr/>
              <a:tblGrid>
                <a:gridCol w="923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handshape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MANGIARE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C-flat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bocca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ripetuto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traslez.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v.flessivo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rotazione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aggettivo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5-flat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IX-1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977640" y="46177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580"/>
                </a:solidFill>
              </a:rPr>
              <a:t>Target: ~500–1.000 segni annotati come base minima per i 6 subset.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solidFill>
              <a:srgbClr val="C500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 Guida via RAG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C9BAF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828800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(Markdown)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563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 LIS,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morfosint., NMF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67128" y="1399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658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1828800" cy="1005840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423160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563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sentence-transformers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70248" y="1399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658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1051560"/>
            <a:ext cx="1828800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26280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563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retrieval semantico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73368" y="1399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658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182880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629400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Prompt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563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regole rilevanti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few-shot examples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4069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0040" y="2331720"/>
            <a:ext cx="64008" cy="2423160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0292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350"/>
                </a:solidFill>
              </a:rPr>
              <a:t>Contenuto della Knowledge 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Fonologia: 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cheremi, parametri formativi (Stokoe 1960; Volterra 1987)
</a:t>
            </a: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Sintassi: 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 SOV, topic-comment, costruzioni topicalizzate (Pizzuto 2002)
</a:t>
            </a: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Morfologia: 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 flessivi, classificatori, morfologia non-manuale (Bertone 2011)
</a:t>
            </a: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Discorso: 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loci spaziali, catene di coreferenza (Zucchi 2004)
</a:t>
            </a: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 annotati: 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 gold per few-shot retrieval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069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64008" cy="2423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93776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350"/>
                </a:solidFill>
              </a:rPr>
              <a:t>Struttura delle Linee Guida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8346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fenomeno: 
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Definizione linguistica formale
2. Parametri obbligatori e opzionali
3. Esempi positivi (frasi corrette)
4. Esempi negativi (errori tipici)
5. Template di prompt per la generazione
</a:t>
            </a: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</a:t>
            </a:r>
            <a:r>
              <a:rPr lang="en-US" sz="1000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strutturato per retrieval efficiente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Lavori Correlati &amp; Fondamenti Teorici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C9BAF"/>
                </a:solidFill>
              </a:rPr>
              <a:t>09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Linguistica LIS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64008" cy="804672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(1987)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grammatica formale della LIS; fondamento per i parametri cheremi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64008" cy="804672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" y="24323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Pizzuto et al. (2002)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6883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della struttura morfosintattica e del topic-comment in LIS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25526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20040" y="3255264"/>
            <a:ext cx="64008" cy="804672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02920" y="33284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Bertone (2011)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Morfologia non-manuale (NMF) nelle interrogative e negazioni LIS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415137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20040" y="4151376"/>
            <a:ext cx="64008" cy="804672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02920" y="42245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Zucchi et al. (2004)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4805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Loci spaziali e catene di coreferenza nel discorso LIS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SLP &amp; Sign Language NLP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146304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3291840" y="1463040"/>
            <a:ext cx="6400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474720" y="15361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Camgoz et al. (2018)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179222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Sign Language Translation — ECCV 2018; seq2seq per SL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2359152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3291840" y="2359152"/>
            <a:ext cx="6400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474720" y="24323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et al. (2019)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26883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Recognition with CNN + attention; benchmark ASL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91840" y="325526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3291840" y="3255264"/>
            <a:ext cx="6400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3474720" y="33284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 et al. (2019)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358444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Recognition, Generation &amp; Translation — FAccT 2019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415137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3291840" y="4151376"/>
            <a:ext cx="6400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3474720" y="42245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Coster et al. (2021)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0" y="44805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Transformers: revisione dataset e modelli; gap LIS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63640" y="1005840"/>
            <a:ext cx="274320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2636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LLM &amp; Synthetic Data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146304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6263640" y="1463040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446520" y="15361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46520" y="179222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Retrieval-Augmented Generation per NLP knowledge-intensive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2359152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6263640" y="2359152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446520" y="24323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 (2022)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26883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Prompting; reasoning strutturato nei LLM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63640" y="325526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6263640" y="3255264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6446520" y="33284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Møller et al. (2023)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46520" y="358444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sintetici da LLM per NLP: qualità, bias e strategie di validazione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63640" y="415137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6" name="Shape 54"/>
          <p:cNvSpPr/>
          <p:nvPr/>
        </p:nvSpPr>
        <p:spPr>
          <a:xfrm>
            <a:off x="6263640" y="4151376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6446520" y="42245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Bonifacci et al. (2024)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46520" y="44805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 esperimenti di generazione LLM-assistita per dataset LIS (CNIT)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e Controllo Qualità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C9BAF"/>
                </a:solidFill>
              </a:rPr>
              <a:t>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1188720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Inter-Annotator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(κ)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4688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1920240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1772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Linguistic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1920240" cy="1188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76656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 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 release)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320040" y="2468880"/>
            <a:ext cx="64008" cy="2331720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292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</a:rPr>
              <a:t>Fase 1 · Automatica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62656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validation, consistency check lessicale (segno ∈ lexicon seed), rule-based filter per fenomeno, NMF coerenza con tipo frase.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291840" y="2468880"/>
            <a:ext cx="64008" cy="2331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47472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</a:rPr>
              <a:t>Fase 2 · Human-in-the-loop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62656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Campione stratificato (10% per subset) revisionato da 2 interpreti LIS certificati. Calcolo Cohen's κ per inter-annotator agreement.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263640" y="2468880"/>
            <a:ext cx="64008" cy="2331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4652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350"/>
                </a:solidFill>
              </a:rPr>
              <a:t>Fase 3 · Benchmark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2962656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di un modello seq2seq di base (mT5-small) sul dataset. Valutazione su held-out set con BLEU e SLR-specific metrics.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50033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Roadmap del Progetto</a:t>
            </a:r>
            <a:endParaRPr lang="en-US" sz="2200" dirty="0">
              <a:latin typeface="Quattrocento Sans" panose="020B05020500000200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C9BAF"/>
                </a:solidFill>
                <a:latin typeface="Quattrocento Sans" panose="020B0502050000020003" pitchFamily="34" charset="0"/>
              </a:rPr>
              <a:t>11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8229600" cy="54864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2240280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M1–M2</a:t>
            </a:r>
            <a:endParaRPr lang="en-US" sz="850" dirty="0">
              <a:latin typeface="Quattrocento Sans" panose="020B05020500000200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>
              <a:latin typeface="Quattrocento Sans" panose="020B05020500000200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64008" cy="2148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350"/>
                </a:solidFill>
                <a:latin typeface="Quattrocento Sans" panose="020B0502050000020003" pitchFamily="34" charset="0"/>
              </a:rPr>
              <a:t>Fase 1 · Setup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Raccolta lexicon seed</a:t>
            </a:r>
            <a:endParaRPr lang="en-US" sz="90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(~500 segni)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85876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Schema JSON v1.0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42569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Knowledge base RAG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384048" cy="384048"/>
          </a:xfrm>
          <a:prstGeom prst="ellipse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26080" y="160020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2608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M3–M4</a:t>
            </a:r>
            <a:endParaRPr lang="en-US" sz="85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0" y="283464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0" y="2834640"/>
            <a:ext cx="64008" cy="2148840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0" y="2926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350"/>
                </a:solidFill>
                <a:latin typeface="Quattrocento Sans" panose="020B0502050000020003" pitchFamily="34" charset="0"/>
              </a:rPr>
              <a:t>Fase 2 · Generazione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26080" y="3291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Prompt engineering</a:t>
            </a:r>
            <a:endParaRPr lang="en-US" sz="90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per subset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26080" y="385876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Generazione LLM</a:t>
            </a:r>
            <a:endParaRPr lang="en-US" sz="900" dirty="0">
              <a:latin typeface="Quattrocento Sans" panose="020B0502050000020003" pitchFamily="34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(Claude/GPT-4o)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926080" y="442569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Validazione automatica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94960" y="2240280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20640" y="160020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2064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M5–M6</a:t>
            </a:r>
            <a:endParaRPr lang="en-US" sz="850" dirty="0">
              <a:latin typeface="Quattrocento Sans" panose="020B05020500000200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937760" y="283464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37760" y="2834640"/>
            <a:ext cx="64008" cy="2148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20640" y="2926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350"/>
                </a:solidFill>
                <a:latin typeface="Quattrocento Sans" panose="020B0502050000020003" pitchFamily="34" charset="0"/>
              </a:rPr>
              <a:t>Fase 3 · Validazione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20640" y="3291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Review esperti LIS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20640" y="385876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Calcolo IAA (κ)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20640" y="442569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Correzioni iterative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15200" y="224028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040880" y="160020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4088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attrocento Sans" panose="020B0502050000020003" pitchFamily="34" charset="0"/>
              </a:rPr>
              <a:t>M7–M8</a:t>
            </a:r>
            <a:endParaRPr lang="en-US" sz="850" dirty="0">
              <a:latin typeface="Quattrocento Sans" panose="020B0502050000020003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8000" y="283464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58000" y="2834640"/>
            <a:ext cx="64008" cy="2148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>
              <a:latin typeface="Quattrocento Sans" panose="020B05020500000200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40880" y="2926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350"/>
                </a:solidFill>
                <a:latin typeface="Quattrocento Sans" panose="020B0502050000020003" pitchFamily="34" charset="0"/>
              </a:rPr>
              <a:t>Fase 4 · Fine-tuning</a:t>
            </a:r>
            <a:endParaRPr lang="en-US" sz="1050" dirty="0">
              <a:latin typeface="Quattrocento Sans" panose="020B05020500000200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40880" y="3291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Training mT5/NLLB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40880" y="385876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Evaluation metrics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040880" y="442569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Quattrocento Sans" panose="020B0502050000020003" pitchFamily="34" charset="0"/>
                <a:ea typeface="Calibri" pitchFamily="34" charset="-122"/>
                <a:cs typeface="Calibri" pitchFamily="34" charset="-120"/>
              </a:rPr>
              <a:t>• Rilascio v1.0 open</a:t>
            </a:r>
            <a:endParaRPr lang="en-US" sz="900" dirty="0"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474720" y="41148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474720" y="411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Sintesi &amp; Impatto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LIS-GenDB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DC8DA"/>
                </a:solidFill>
              </a:rPr>
              <a:t>Un'infrastruttura scalabile per la generazione di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DC8DA"/>
                </a:solidFill>
              </a:rPr>
              <a:t>dataset annotati per la Lingua dei Segni Italiana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423160"/>
            <a:ext cx="2194560" cy="36576"/>
          </a:xfrm>
          <a:prstGeom prst="rect">
            <a:avLst/>
          </a:prstGeom>
          <a:solidFill>
            <a:srgbClr val="0C9BAF"/>
          </a:solidFill>
          <a:ln w="12700">
            <a:solidFill>
              <a:srgbClr val="0C9BA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011680" y="2606040"/>
            <a:ext cx="5486400" cy="1632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dataset strutturato LIS per il fine-tuning di LLM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replicabile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lingue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(LIS, LSF, DGS…)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JSON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estensibile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rilascio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open-source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sull'accessibilità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~90.000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sordi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Italia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1363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66674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419709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myViola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FFC000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CC0000"/>
      </a:hlink>
      <a:folHlink>
        <a:srgbClr val="CC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2F488EC-0EF9-499B-9E19-2C17DDD736C7}" vid="{9E8C3073-3D0F-4AC9-AF14-F0EC738926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44</TotalTime>
  <Words>1657</Words>
  <Application>Microsoft Office PowerPoint</Application>
  <PresentationFormat>On-screen Show (16:9)</PresentationFormat>
  <Paragraphs>287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Lora</vt:lpstr>
      <vt:lpstr>Quattrocento Sans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LIS-GenDB: Generazione Automatica di Dataset Annotati per la LIS</dc:title>
  <dc:subject>PptxGenJS Presentation</dc:subject>
  <dc:creator>PptxGenJS</dc:creator>
  <cp:lastModifiedBy>MAZZOLI SIMONE</cp:lastModifiedBy>
  <cp:revision>2</cp:revision>
  <dcterms:created xsi:type="dcterms:W3CDTF">2026-04-21T12:32:46Z</dcterms:created>
  <dcterms:modified xsi:type="dcterms:W3CDTF">2026-04-21T13:52:36Z</dcterms:modified>
</cp:coreProperties>
</file>