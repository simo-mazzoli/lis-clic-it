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hape 24"/>
          <p:cNvCxnSpPr/>
          <p:nvPr/>
        </p:nvCxnSpPr>
        <p:spPr>
          <a:xfrm flipV="1">
            <a:off x="0" y="3427200"/>
            <a:ext cx="12192000" cy="181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Shape 15"/>
          <p:cNvSpPr/>
          <p:nvPr/>
        </p:nvSpPr>
        <p:spPr>
          <a:xfrm>
            <a:off x="1490601" y="3051001"/>
            <a:ext cx="755999" cy="7559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2696301" y="2258031"/>
            <a:ext cx="5050399" cy="15463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4000"/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hape 99"/>
          <p:cNvSpPr txBox="1">
            <a:spLocks noGrp="1"/>
          </p:cNvSpPr>
          <p:nvPr>
            <p:ph type="subTitle" idx="4294967295"/>
          </p:nvPr>
        </p:nvSpPr>
        <p:spPr>
          <a:xfrm>
            <a:off x="2696400" y="3754565"/>
            <a:ext cx="7455200" cy="10463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/>
              <a:t>Click to edit Master subtitle style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1419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hape 24"/>
          <p:cNvCxnSpPr/>
          <p:nvPr/>
        </p:nvCxnSpPr>
        <p:spPr>
          <a:xfrm flipV="1">
            <a:off x="0" y="3427200"/>
            <a:ext cx="12192000" cy="181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Shape 15"/>
          <p:cNvSpPr/>
          <p:nvPr/>
        </p:nvSpPr>
        <p:spPr>
          <a:xfrm>
            <a:off x="5724045" y="3051001"/>
            <a:ext cx="755999" cy="7559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00"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3215680" y="548863"/>
            <a:ext cx="5760640" cy="2122520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2667"/>
            </a:lvl1pPr>
            <a:lvl2pPr lvl="1" rtl="0">
              <a:spcBef>
                <a:spcPts val="0"/>
              </a:spcBef>
              <a:buSzPct val="100000"/>
              <a:defRPr sz="4000"/>
            </a:lvl2pPr>
            <a:lvl3pPr lvl="2" rtl="0">
              <a:spcBef>
                <a:spcPts val="0"/>
              </a:spcBef>
              <a:buSzPct val="100000"/>
              <a:defRPr sz="4000"/>
            </a:lvl3pPr>
            <a:lvl4pPr lvl="3" rtl="0">
              <a:spcBef>
                <a:spcPts val="0"/>
              </a:spcBef>
              <a:buSzPct val="100000"/>
              <a:defRPr sz="4000"/>
            </a:lvl4pPr>
            <a:lvl5pPr lvl="4" rtl="0">
              <a:spcBef>
                <a:spcPts val="0"/>
              </a:spcBef>
              <a:buSzPct val="100000"/>
              <a:defRPr sz="4000"/>
            </a:lvl5pPr>
            <a:lvl6pPr lvl="5" rtl="0">
              <a:spcBef>
                <a:spcPts val="0"/>
              </a:spcBef>
              <a:buSzPct val="100000"/>
              <a:defRPr sz="4000"/>
            </a:lvl6pPr>
            <a:lvl7pPr lvl="6" rtl="0">
              <a:spcBef>
                <a:spcPts val="0"/>
              </a:spcBef>
              <a:buSzPct val="100000"/>
              <a:defRPr sz="4000"/>
            </a:lvl7pPr>
            <a:lvl8pPr lvl="7" rtl="0">
              <a:spcBef>
                <a:spcPts val="0"/>
              </a:spcBef>
              <a:buSzPct val="100000"/>
              <a:defRPr sz="4000"/>
            </a:lvl8pPr>
            <a:lvl9pPr lvl="8" rtl="0">
              <a:spcBef>
                <a:spcPts val="0"/>
              </a:spcBef>
              <a:buSzPct val="100000"/>
              <a:defRPr sz="40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hape 99"/>
          <p:cNvSpPr txBox="1">
            <a:spLocks noGrp="1"/>
          </p:cNvSpPr>
          <p:nvPr>
            <p:ph type="subTitle" idx="4294967295"/>
          </p:nvPr>
        </p:nvSpPr>
        <p:spPr>
          <a:xfrm>
            <a:off x="1295467" y="4183200"/>
            <a:ext cx="9601067" cy="2125577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>
              <a:buClr>
                <a:srgbClr val="C00000"/>
              </a:buClr>
              <a:buFont typeface="Arial" panose="020B0604020202020204" pitchFamily="34" charset="0"/>
              <a:buChar char="•"/>
              <a:defRPr/>
            </a:lvl1pPr>
          </a:lstStyle>
          <a:p>
            <a:pPr lvl="0" rtl="0">
              <a:spcBef>
                <a:spcPts val="0"/>
              </a:spcBef>
              <a:buNone/>
            </a:pPr>
            <a:r>
              <a:rPr lang="en-US"/>
              <a:t>Click to edit Master subtitle style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19177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ape 24"/>
          <p:cNvCxnSpPr/>
          <p:nvPr/>
        </p:nvCxnSpPr>
        <p:spPr>
          <a:xfrm flipV="1">
            <a:off x="0" y="1508787"/>
            <a:ext cx="12192000" cy="181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" name="Shape 25"/>
          <p:cNvSpPr/>
          <p:nvPr/>
        </p:nvSpPr>
        <p:spPr>
          <a:xfrm>
            <a:off x="1089967" y="1238355"/>
            <a:ext cx="541199" cy="5411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00"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1841667" y="1230225"/>
            <a:ext cx="5171199" cy="580799"/>
          </a:xfrm>
          <a:prstGeom prst="rect">
            <a:avLst/>
          </a:prstGeom>
          <a:solidFill>
            <a:schemeClr val="lt1"/>
          </a:solidFill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buFont typeface="Lora"/>
              <a:buNone/>
              <a:defRPr sz="2667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1841667" y="2155293"/>
            <a:ext cx="9079600" cy="4149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L="609585" lvl="0" indent="-455989" rtl="0">
              <a:spcBef>
                <a:spcPts val="0"/>
              </a:spcBef>
              <a:spcAft>
                <a:spcPts val="1600"/>
              </a:spcAft>
              <a:buClr>
                <a:srgbClr val="C50033"/>
              </a:buClr>
              <a:buSzPct val="100000"/>
              <a:buFont typeface="Quattrocento Sans"/>
              <a:buChar char="◉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B3FDDBC-A03E-4A5D-8954-EB9DDBA88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847-2921-401A-AD49-FB835A45EE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396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letely 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CBA9BD7-DEC3-4D0B-9EE4-EF38CB9FD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847-2921-401A-AD49-FB835A45EE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675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+ 1 column">
    <p:bg>
      <p:bgPr>
        <a:solidFill>
          <a:srgbClr val="C50033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hape 24"/>
          <p:cNvCxnSpPr/>
          <p:nvPr/>
        </p:nvCxnSpPr>
        <p:spPr>
          <a:xfrm flipV="1">
            <a:off x="0" y="1508787"/>
            <a:ext cx="12192000" cy="181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5" name="Shape 25"/>
          <p:cNvSpPr/>
          <p:nvPr/>
        </p:nvSpPr>
        <p:spPr>
          <a:xfrm>
            <a:off x="1089967" y="1238355"/>
            <a:ext cx="541199" cy="54119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00"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1841667" y="1230225"/>
            <a:ext cx="5171199" cy="580799"/>
          </a:xfrm>
          <a:prstGeom prst="rect">
            <a:avLst/>
          </a:prstGeom>
          <a:solidFill>
            <a:srgbClr val="C50033"/>
          </a:solidFill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SzPct val="100000"/>
              <a:buFont typeface="Lora"/>
              <a:buNone/>
              <a:defRPr sz="2667" b="1">
                <a:solidFill>
                  <a:schemeClr val="bg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buSzPct val="100000"/>
              <a:buFont typeface="Lora"/>
              <a:buNone/>
              <a:defRPr sz="2667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1841667" y="2155293"/>
            <a:ext cx="9079600" cy="4149600"/>
          </a:xfrm>
          <a:prstGeom prst="round2DiagRect">
            <a:avLst/>
          </a:prstGeom>
          <a:solidFill>
            <a:schemeClr val="bg1"/>
          </a:solidFill>
        </p:spPr>
        <p:txBody>
          <a:bodyPr lIns="91425" tIns="91425" rIns="91425" bIns="91425" anchor="t" anchorCtr="0"/>
          <a:lstStyle>
            <a:lvl1pPr marL="609585" lvl="0" indent="-455989" rtl="0">
              <a:spcBef>
                <a:spcPts val="0"/>
              </a:spcBef>
              <a:spcAft>
                <a:spcPts val="1600"/>
              </a:spcAft>
              <a:buClr>
                <a:srgbClr val="C50033"/>
              </a:buClr>
              <a:buSzPct val="100000"/>
              <a:buFont typeface="Quattrocento Sans"/>
              <a:buChar char="◉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rtl="0">
              <a:spcBef>
                <a:spcPts val="640"/>
              </a:spcBef>
              <a:buClr>
                <a:srgbClr val="FFCD00"/>
              </a:buClr>
              <a:buSzPct val="100000"/>
              <a:buFont typeface="Quattrocento Sans"/>
              <a:defRPr sz="2667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rtl="0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903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_background">
    <p:bg>
      <p:bgPr>
        <a:solidFill>
          <a:srgbClr val="C5003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56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hape 24"/>
          <p:cNvCxnSpPr/>
          <p:nvPr/>
        </p:nvCxnSpPr>
        <p:spPr>
          <a:xfrm flipV="1">
            <a:off x="0" y="1508787"/>
            <a:ext cx="12192000" cy="181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7" name="Shape 47"/>
          <p:cNvSpPr/>
          <p:nvPr/>
        </p:nvSpPr>
        <p:spPr>
          <a:xfrm>
            <a:off x="1089967" y="1238355"/>
            <a:ext cx="541199" cy="541199"/>
          </a:xfrm>
          <a:prstGeom prst="ellipse">
            <a:avLst/>
          </a:prstGeom>
          <a:solidFill>
            <a:srgbClr val="C50033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2400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1841667" y="1228801"/>
            <a:ext cx="9079600" cy="580799"/>
          </a:xfrm>
          <a:solidFill>
            <a:schemeClr val="lt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9B6E42D-2185-4206-BCCC-806CB9583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847-2921-401A-AD49-FB835A45EE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571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3F43-82EC-B6C3-2B1F-147C0093F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8A693-DF0C-30C9-DF13-FE8390A42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8208C-D45C-0881-6968-4BFF8708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F345D-B3BA-429B-BB69-A15BE8268F57}" type="datetimeFigureOut">
              <a:rPr lang="it-IT" smtClean="0"/>
              <a:t>24/04/2026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C51C4-C37D-107F-3EB1-F9DCA196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CCAEA-2959-BEE5-F9C1-85F24379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3847-2921-401A-AD49-FB835A45EE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3218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E984-E912-667D-E650-04B2C955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E2FAB-5F12-F7DC-7D30-BB73A011E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DEFB5-FA6F-C5D3-4864-32F741D8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F345D-B3BA-429B-BB69-A15BE8268F57}" type="datetimeFigureOut">
              <a:rPr lang="it-IT" smtClean="0"/>
              <a:t>24/04/2026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9EBF-DC69-3011-6571-6EF8093A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D289-98BE-AF11-1BF7-6E0E2BF4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13847-2921-401A-AD49-FB835A45EE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997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841667" y="2155293"/>
            <a:ext cx="9079600" cy="41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FFCD00"/>
              </a:buClr>
              <a:buSzPct val="1000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spcBef>
                <a:spcPts val="480"/>
              </a:spcBef>
              <a:buClr>
                <a:srgbClr val="FFCD00"/>
              </a:buClr>
              <a:buSzPct val="100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spcBef>
                <a:spcPts val="360"/>
              </a:spcBef>
              <a:buClr>
                <a:srgbClr val="FFCD00"/>
              </a:buClr>
              <a:buSzPct val="1000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title"/>
          </p:nvPr>
        </p:nvSpPr>
        <p:spPr>
          <a:xfrm>
            <a:off x="1841667" y="1249489"/>
            <a:ext cx="9079600" cy="580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buSzPct val="100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35224B5-44FF-4E63-AEBE-3799CB115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451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13847-2921-401A-AD49-FB835A45EE1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86617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C50033"/>
        </a:buClr>
        <a:buFont typeface="Quattrocento Sans" pitchFamily="34" charset="0"/>
        <a:buChar char="◉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690F-7C3D-0603-2179-B23EE1786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LIS-</a:t>
            </a:r>
            <a:r>
              <a:rPr lang="it-IT" dirty="0" err="1"/>
              <a:t>Synthetic</a:t>
            </a:r>
            <a:r>
              <a:rPr lang="it-IT" dirty="0"/>
              <a:t>-</a:t>
            </a:r>
            <a:r>
              <a:rPr lang="it-IT" dirty="0" err="1"/>
              <a:t>Gen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2068E-EFB7-6A91-9C5E-AA37537F7E7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696400" y="3754565"/>
            <a:ext cx="7455200" cy="1046399"/>
          </a:xfrm>
        </p:spPr>
        <p:txBody>
          <a:bodyPr/>
          <a:lstStyle/>
          <a:p>
            <a:r>
              <a:rPr lang="it-IT" dirty="0"/>
              <a:t>Generazione di Dataset Sintetici per la Lingua dei Segni Italiana tramite LLM e RAG</a:t>
            </a:r>
          </a:p>
        </p:txBody>
      </p:sp>
    </p:spTree>
    <p:extLst>
      <p:ext uri="{BB962C8B-B14F-4D97-AF65-F5344CB8AC3E}">
        <p14:creationId xmlns:p14="http://schemas.microsoft.com/office/powerpoint/2010/main" val="341290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DE5C3D-4CF2-B5FA-069D-32D5A55D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3207853" cy="580799"/>
          </a:xfrm>
        </p:spPr>
        <p:txBody>
          <a:bodyPr/>
          <a:lstStyle/>
          <a:p>
            <a:r>
              <a:rPr lang="it-IT" dirty="0"/>
              <a:t>Visione e Obiettivi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92E36-DF32-DC34-9232-64064DFB5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3596" indent="0">
              <a:buNone/>
            </a:pPr>
            <a:r>
              <a:rPr lang="it-IT" dirty="0"/>
              <a:t>Il Problema: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altLang="it-IT" sz="2000" dirty="0">
                <a:solidFill>
                  <a:schemeClr val="tx1"/>
                </a:solidFill>
              </a:rPr>
              <a:t>Scarsità di dataset annotati per la LIS (collo di bottiglia per il Deep Learning).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it-IT" altLang="it-IT" sz="2000" dirty="0">
                <a:solidFill>
                  <a:schemeClr val="tx1"/>
                </a:solidFill>
              </a:rPr>
              <a:t>L'annotazione manuale è costosa e richiede esperti (interpreti/sordi).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it-IT" altLang="it-IT" sz="2000" dirty="0">
              <a:solidFill>
                <a:schemeClr val="tx1"/>
              </a:solidFill>
            </a:endParaRPr>
          </a:p>
          <a:p>
            <a:pPr marL="153596" indent="0">
              <a:buNone/>
            </a:pPr>
            <a:r>
              <a:rPr lang="it-IT" b="1" dirty="0"/>
              <a:t>La Soluzione:</a:t>
            </a:r>
            <a:endParaRPr lang="it-IT" dirty="0"/>
          </a:p>
          <a:p>
            <a:r>
              <a:rPr lang="it-IT" sz="2000" dirty="0">
                <a:solidFill>
                  <a:schemeClr val="tx1"/>
                </a:solidFill>
              </a:rPr>
              <a:t>Sviluppare una pipeline che utilizzi un LLM (es. GPT-4o o Claude 3.5) per generare stringhe di Glosse LIS strutturate in JSON.</a:t>
            </a:r>
          </a:p>
          <a:p>
            <a:pPr>
              <a:spcAft>
                <a:spcPts val="0"/>
              </a:spcAft>
            </a:pPr>
            <a:r>
              <a:rPr lang="it-IT" sz="2000" dirty="0">
                <a:solidFill>
                  <a:schemeClr val="tx1"/>
                </a:solidFill>
              </a:rPr>
              <a:t>Uso del RAG per fornire al modello:</a:t>
            </a:r>
          </a:p>
          <a:p>
            <a:pPr marL="720725" lvl="1" indent="-365125"/>
            <a:r>
              <a:rPr lang="it-IT" sz="2000" dirty="0">
                <a:solidFill>
                  <a:schemeClr val="tx1"/>
                </a:solidFill>
              </a:rPr>
              <a:t>Un lessico annotato (</a:t>
            </a:r>
            <a:r>
              <a:rPr lang="it-IT" sz="2000" dirty="0" err="1">
                <a:solidFill>
                  <a:schemeClr val="tx1"/>
                </a:solidFill>
              </a:rPr>
              <a:t>Sign</a:t>
            </a:r>
            <a:r>
              <a:rPr lang="it-IT" sz="2000" dirty="0">
                <a:solidFill>
                  <a:schemeClr val="tx1"/>
                </a:solidFill>
              </a:rPr>
              <a:t>-entry).</a:t>
            </a:r>
          </a:p>
          <a:p>
            <a:pPr marL="720725" lvl="1" indent="-365125"/>
            <a:r>
              <a:rPr lang="it-IT" sz="2000" dirty="0">
                <a:solidFill>
                  <a:schemeClr val="tx1"/>
                </a:solidFill>
              </a:rPr>
              <a:t>Grammatica formale della LIS (regole di scomposizione).</a:t>
            </a:r>
          </a:p>
        </p:txBody>
      </p:sp>
    </p:spTree>
    <p:extLst>
      <p:ext uri="{BB962C8B-B14F-4D97-AF65-F5344CB8AC3E}">
        <p14:creationId xmlns:p14="http://schemas.microsoft.com/office/powerpoint/2010/main" val="280581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2B094-D5D3-E7DA-FD59-003F60F7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16F98A-F8E7-C4D3-418F-DFB72D89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7068653" cy="580799"/>
          </a:xfrm>
        </p:spPr>
        <p:txBody>
          <a:bodyPr/>
          <a:lstStyle/>
          <a:p>
            <a:r>
              <a:rPr lang="it-IT" dirty="0"/>
              <a:t>Lo Stato dell'Arte e Fondamenti Scientifici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AC7AF-23AC-FDA6-48B3-8010A5892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2000" b="1" dirty="0"/>
              <a:t>Linguistica della LIS:</a:t>
            </a:r>
            <a:r>
              <a:rPr lang="it-IT" sz="2000" dirty="0"/>
              <a:t> Basato su </a:t>
            </a:r>
            <a:r>
              <a:rPr lang="it-IT" sz="2000" i="1" dirty="0"/>
              <a:t>Volterra, V. et al. (2019). "La lingua dei segni italiana. La comunicazione visivo-gestuale dei sordi"</a:t>
            </a:r>
            <a:r>
              <a:rPr lang="it-IT" sz="2000" dirty="0"/>
              <a:t>. Fondamentale per definire i parametri non manuali (</a:t>
            </a:r>
            <a:r>
              <a:rPr lang="it-IT" sz="2000" dirty="0" err="1"/>
              <a:t>NMMs</a:t>
            </a:r>
            <a:r>
              <a:rPr lang="it-IT" sz="2000" dirty="0"/>
              <a:t>).</a:t>
            </a:r>
          </a:p>
          <a:p>
            <a:r>
              <a:rPr lang="it-IT" sz="2000" b="1" dirty="0" err="1"/>
              <a:t>Sign</a:t>
            </a:r>
            <a:r>
              <a:rPr lang="it-IT" sz="2000" b="1" dirty="0"/>
              <a:t> Language Gloss Generation:</a:t>
            </a:r>
            <a:r>
              <a:rPr lang="it-IT" sz="2000" dirty="0"/>
              <a:t> Citazione di </a:t>
            </a:r>
            <a:r>
              <a:rPr lang="it-IT" sz="2000" i="1" dirty="0"/>
              <a:t>Yin, K., &amp; Read, J. (2020). "Better </a:t>
            </a:r>
            <a:r>
              <a:rPr lang="it-IT" sz="2000" i="1" dirty="0" err="1"/>
              <a:t>Sign</a:t>
            </a:r>
            <a:r>
              <a:rPr lang="it-IT" sz="2000" i="1" dirty="0"/>
              <a:t> Language </a:t>
            </a:r>
            <a:r>
              <a:rPr lang="it-IT" sz="2000" i="1" dirty="0" err="1"/>
              <a:t>Translation</a:t>
            </a:r>
            <a:r>
              <a:rPr lang="it-IT" sz="2000" i="1" dirty="0"/>
              <a:t> with Better </a:t>
            </a:r>
            <a:r>
              <a:rPr lang="it-IT" sz="2000" i="1" dirty="0" err="1"/>
              <a:t>Glossing</a:t>
            </a:r>
            <a:r>
              <a:rPr lang="it-IT" sz="2000" i="1" dirty="0"/>
              <a:t>"</a:t>
            </a:r>
            <a:r>
              <a:rPr lang="it-IT" sz="2000" dirty="0"/>
              <a:t>. Dimostra come una glossa accurata sia il ponte tra testo e video.</a:t>
            </a:r>
          </a:p>
          <a:p>
            <a:r>
              <a:rPr lang="it-IT" sz="2000" b="1" dirty="0" err="1"/>
              <a:t>Synthetic</a:t>
            </a:r>
            <a:r>
              <a:rPr lang="it-IT" sz="2000" b="1" dirty="0"/>
              <a:t> Data for SL:</a:t>
            </a:r>
            <a:r>
              <a:rPr lang="it-IT" sz="2000" dirty="0"/>
              <a:t> Ispirato a </a:t>
            </a:r>
            <a:r>
              <a:rPr lang="it-IT" sz="2000" i="1" dirty="0"/>
              <a:t>Saunders, B. et al. (2022). "</a:t>
            </a:r>
            <a:r>
              <a:rPr lang="it-IT" sz="2000" i="1" dirty="0" err="1"/>
              <a:t>Skeletal</a:t>
            </a:r>
            <a:r>
              <a:rPr lang="it-IT" sz="2000" i="1" dirty="0"/>
              <a:t> </a:t>
            </a:r>
            <a:r>
              <a:rPr lang="it-IT" sz="2000" i="1" dirty="0" err="1"/>
              <a:t>Graph</a:t>
            </a:r>
            <a:r>
              <a:rPr lang="it-IT" sz="2000" i="1" dirty="0"/>
              <a:t> Self-</a:t>
            </a:r>
            <a:r>
              <a:rPr lang="it-IT" sz="2000" i="1" dirty="0" err="1"/>
              <a:t>Attention</a:t>
            </a:r>
            <a:r>
              <a:rPr lang="it-IT" sz="2000" i="1" dirty="0"/>
              <a:t> for </a:t>
            </a:r>
            <a:r>
              <a:rPr lang="it-IT" sz="2000" i="1" dirty="0" err="1"/>
              <a:t>Sign</a:t>
            </a:r>
            <a:r>
              <a:rPr lang="it-IT" sz="2000" i="1" dirty="0"/>
              <a:t> Language Production"</a:t>
            </a:r>
            <a:r>
              <a:rPr lang="it-IT" sz="2000" dirty="0"/>
              <a:t>, adattando l'idea della generazione di dati testuali per il </a:t>
            </a:r>
            <a:r>
              <a:rPr lang="it-IT" sz="2000" dirty="0" err="1"/>
              <a:t>pre</a:t>
            </a:r>
            <a:r>
              <a:rPr lang="it-IT" sz="2000" dirty="0"/>
              <a:t>-training.</a:t>
            </a:r>
          </a:p>
        </p:txBody>
      </p:sp>
    </p:spTree>
    <p:extLst>
      <p:ext uri="{BB962C8B-B14F-4D97-AF65-F5344CB8AC3E}">
        <p14:creationId xmlns:p14="http://schemas.microsoft.com/office/powerpoint/2010/main" val="3009209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F324-1413-91C4-6641-1F73CFA1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2607E4-9FD5-AF51-F19C-EEF4CF5B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6743533" cy="580799"/>
          </a:xfrm>
        </p:spPr>
        <p:txBody>
          <a:bodyPr/>
          <a:lstStyle/>
          <a:p>
            <a:r>
              <a:rPr lang="it-IT" dirty="0"/>
              <a:t>Architettura del Sistema (The Pipeline)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7CFBF-173F-8FFA-BA8C-3E848ADB4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2000" b="1" dirty="0"/>
              <a:t>Input Module:</a:t>
            </a:r>
            <a:r>
              <a:rPr lang="it-IT" sz="2000" dirty="0"/>
              <a:t> Definizione del subset (es. "Interrogative Polari").</a:t>
            </a:r>
          </a:p>
          <a:p>
            <a:r>
              <a:rPr lang="it-IT" sz="2000" b="1" dirty="0"/>
              <a:t>RAG Engine:</a:t>
            </a:r>
            <a:endParaRPr lang="it-IT" sz="2000" dirty="0"/>
          </a:p>
          <a:p>
            <a:pPr lvl="1"/>
            <a:r>
              <a:rPr lang="it-IT" sz="2000" b="1" dirty="0" err="1"/>
              <a:t>Vector</a:t>
            </a:r>
            <a:r>
              <a:rPr lang="it-IT" sz="2000" b="1" dirty="0"/>
              <a:t> DB (Lexicon):</a:t>
            </a:r>
            <a:r>
              <a:rPr lang="it-IT" sz="2000" dirty="0"/>
              <a:t> Contiene lemmi italiani associati a parametri di segno (configurazione, luogo, movimento).</a:t>
            </a:r>
          </a:p>
          <a:p>
            <a:pPr lvl="1"/>
            <a:r>
              <a:rPr lang="it-IT" sz="2000" b="1" dirty="0"/>
              <a:t>Knowledge Base (</a:t>
            </a:r>
            <a:r>
              <a:rPr lang="it-IT" sz="2000" b="1" dirty="0" err="1"/>
              <a:t>Grammar</a:t>
            </a:r>
            <a:r>
              <a:rPr lang="it-IT" sz="2000" b="1" dirty="0"/>
              <a:t>):</a:t>
            </a:r>
            <a:r>
              <a:rPr lang="it-IT" sz="2000" dirty="0"/>
              <a:t> Documento con regole (es. "Il punto nel piano per la coreferenza", "Negazione alla fine della frase").</a:t>
            </a:r>
          </a:p>
          <a:p>
            <a:r>
              <a:rPr lang="it-IT" sz="2000" b="1" dirty="0"/>
              <a:t>LLM </a:t>
            </a:r>
            <a:r>
              <a:rPr lang="it-IT" sz="2000" b="1" dirty="0" err="1"/>
              <a:t>Prompting</a:t>
            </a:r>
            <a:r>
              <a:rPr lang="it-IT" sz="2000" b="1" dirty="0"/>
              <a:t>:</a:t>
            </a:r>
            <a:r>
              <a:rPr lang="it-IT" sz="2000" dirty="0"/>
              <a:t> Chain-of-</a:t>
            </a:r>
            <a:r>
              <a:rPr lang="it-IT" sz="2000" dirty="0" err="1"/>
              <a:t>Thought</a:t>
            </a:r>
            <a:r>
              <a:rPr lang="it-IT" sz="2000" dirty="0"/>
              <a:t> per forzare il modello a ragionare prima sulla struttura e poi sulla generazione JSON.</a:t>
            </a:r>
          </a:p>
          <a:p>
            <a:r>
              <a:rPr lang="it-IT" sz="2000" b="1" dirty="0" err="1"/>
              <a:t>Validator</a:t>
            </a:r>
            <a:r>
              <a:rPr lang="it-IT" sz="2000" b="1" dirty="0"/>
              <a:t>:</a:t>
            </a:r>
            <a:r>
              <a:rPr lang="it-IT" sz="2000" dirty="0"/>
              <a:t> Script Python per controllare la coerenza dello schema JSON.</a:t>
            </a:r>
          </a:p>
        </p:txBody>
      </p:sp>
    </p:spTree>
    <p:extLst>
      <p:ext uri="{BB962C8B-B14F-4D97-AF65-F5344CB8AC3E}">
        <p14:creationId xmlns:p14="http://schemas.microsoft.com/office/powerpoint/2010/main" val="155358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20E4-5F8F-10F3-C8E1-8D660154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FA4FE8-C182-C586-B7BB-F240110B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5250013" cy="580799"/>
          </a:xfrm>
        </p:spPr>
        <p:txBody>
          <a:bodyPr/>
          <a:lstStyle/>
          <a:p>
            <a:r>
              <a:rPr lang="it-IT" altLang="it-IT" sz="2800" dirty="0">
                <a:solidFill>
                  <a:schemeClr val="tx1"/>
                </a:solidFill>
                <a:latin typeface="Google Sans"/>
              </a:rPr>
              <a:t>Il Subset Linguistico (Focus </a:t>
            </a:r>
            <a:r>
              <a:rPr lang="it-IT" altLang="it-IT" sz="2800" dirty="0" err="1">
                <a:solidFill>
                  <a:schemeClr val="tx1"/>
                </a:solidFill>
                <a:latin typeface="Google Sans"/>
              </a:rPr>
              <a:t>Areas</a:t>
            </a:r>
            <a:r>
              <a:rPr lang="it-IT" altLang="it-IT" sz="2800" dirty="0">
                <a:solidFill>
                  <a:schemeClr val="tx1"/>
                </a:solidFill>
                <a:latin typeface="Google Sans"/>
              </a:rPr>
              <a:t>)</a:t>
            </a:r>
            <a:endParaRPr lang="it-I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23420-ADAC-C15C-EF57-99FAFE6C7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Per massimizzare l'efficacia, ci concentreremo su fenomeni non lineari: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sz="24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Coreferenza Spaziale: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 Assegnazione di loci nello spazio ($</a:t>
            </a:r>
            <a:r>
              <a:rPr lang="it-IT" altLang="it-IT" sz="24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Loci_A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, </a:t>
            </a:r>
            <a:r>
              <a:rPr lang="it-IT" altLang="it-IT" sz="24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Loci_B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$).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sz="24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Verbi Fluttuanti/Accordo: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 Verbi che cambiano movimento in base ai loci (es. "io-DARE-te").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sz="24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Marcatori Non Manuali (</a:t>
            </a:r>
            <a:r>
              <a:rPr lang="it-IT" altLang="it-IT" sz="2400" b="1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NMMs</a:t>
            </a:r>
            <a:r>
              <a:rPr lang="it-IT" altLang="it-IT" sz="24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):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 Inserimento nel JSON di tag per sopracciglia, sguardo e inclinazione del busto.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sz="2400" b="1" dirty="0">
                <a:solidFill>
                  <a:schemeClr val="tx1"/>
                </a:solidFill>
                <a:latin typeface="Quattrocento Sans" panose="020B0502050000020003" pitchFamily="34" charset="0"/>
              </a:rPr>
              <a:t>Sintassi: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 Struttura Topic-</a:t>
            </a:r>
            <a:r>
              <a:rPr lang="it-IT" altLang="it-IT" sz="2400" dirty="0" err="1">
                <a:solidFill>
                  <a:schemeClr val="tx1"/>
                </a:solidFill>
                <a:latin typeface="Quattrocento Sans" panose="020B0502050000020003" pitchFamily="34" charset="0"/>
              </a:rPr>
              <a:t>Comment</a:t>
            </a:r>
            <a:r>
              <a:rPr lang="it-IT" altLang="it-IT" sz="2400" dirty="0">
                <a:solidFill>
                  <a:schemeClr val="tx1"/>
                </a:solidFill>
                <a:latin typeface="Quattrocento Sans" panose="020B0502050000020003" pitchFamily="34" charset="0"/>
              </a:rPr>
              <a:t> e posizione della negazione.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it-IT" altLang="it-IT" sz="2400" dirty="0">
              <a:solidFill>
                <a:schemeClr val="tx1"/>
              </a:solidFill>
              <a:latin typeface="Quattrocento Sans" panose="020B0502050000020003" pitchFamily="34" charset="0"/>
            </a:endParaRPr>
          </a:p>
          <a:p>
            <a:endParaRPr lang="it-IT" sz="2400" dirty="0">
              <a:latin typeface="Quattrocento Sans" panose="020B050205000002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43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E786A-B946-6521-C892-990F8F4D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022B76-F670-7605-9C94-2077A671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6895933" cy="580799"/>
          </a:xfrm>
        </p:spPr>
        <p:txBody>
          <a:bodyPr/>
          <a:lstStyle/>
          <a:p>
            <a:r>
              <a:rPr lang="it-IT" dirty="0"/>
              <a:t>Schema di Annotazione JSON (Proposta)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82932-7C41-8C58-F9A4-59D62E5A6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 esempio di come l'LLM dovrebbe produrre l'output: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47109-2856-9222-B435-A34004A28177}"/>
              </a:ext>
            </a:extLst>
          </p:cNvPr>
          <p:cNvSpPr txBox="1"/>
          <p:nvPr/>
        </p:nvSpPr>
        <p:spPr>
          <a:xfrm>
            <a:off x="2321560" y="3186410"/>
            <a:ext cx="612648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{</a:t>
            </a:r>
          </a:p>
          <a:p>
            <a:r>
              <a:rPr lang="it-IT" dirty="0"/>
              <a:t>  "</a:t>
            </a:r>
            <a:r>
              <a:rPr lang="it-IT" dirty="0" err="1"/>
              <a:t>sentence_id</a:t>
            </a:r>
            <a:r>
              <a:rPr lang="it-IT" dirty="0"/>
              <a:t>": "POL_INT_001",</a:t>
            </a:r>
          </a:p>
          <a:p>
            <a:r>
              <a:rPr lang="it-IT" dirty="0"/>
              <a:t>  "</a:t>
            </a:r>
            <a:r>
              <a:rPr lang="it-IT" dirty="0" err="1"/>
              <a:t>original_italian</a:t>
            </a:r>
            <a:r>
              <a:rPr lang="it-IT" dirty="0"/>
              <a:t>": "Tu hai visto il gatto?",</a:t>
            </a:r>
          </a:p>
          <a:p>
            <a:r>
              <a:rPr lang="it-IT" dirty="0"/>
              <a:t>  "</a:t>
            </a:r>
            <a:r>
              <a:rPr lang="it-IT" dirty="0" err="1"/>
              <a:t>gloss_sequence</a:t>
            </a:r>
            <a:r>
              <a:rPr lang="it-IT" dirty="0"/>
              <a:t>": [</a:t>
            </a:r>
          </a:p>
          <a:p>
            <a:r>
              <a:rPr lang="it-IT" dirty="0"/>
              <a:t>    {"gloss": "GATTO", "</a:t>
            </a:r>
            <a:r>
              <a:rPr lang="it-IT" dirty="0" err="1"/>
              <a:t>role</a:t>
            </a:r>
            <a:r>
              <a:rPr lang="it-IT" dirty="0"/>
              <a:t>": "TOPIC", "</a:t>
            </a:r>
            <a:r>
              <a:rPr lang="it-IT" dirty="0" err="1"/>
              <a:t>nmm</a:t>
            </a:r>
            <a:r>
              <a:rPr lang="it-IT" dirty="0"/>
              <a:t>": "</a:t>
            </a:r>
            <a:r>
              <a:rPr lang="it-IT" dirty="0" err="1"/>
              <a:t>eyebrows_up</a:t>
            </a:r>
            <a:r>
              <a:rPr lang="it-IT" dirty="0"/>
              <a:t>"},</a:t>
            </a:r>
          </a:p>
          <a:p>
            <a:r>
              <a:rPr lang="it-IT" dirty="0"/>
              <a:t>    {"gloss": "TU", "</a:t>
            </a:r>
            <a:r>
              <a:rPr lang="it-IT" dirty="0" err="1"/>
              <a:t>role</a:t>
            </a:r>
            <a:r>
              <a:rPr lang="it-IT" dirty="0"/>
              <a:t>": "SUBJECT", "</a:t>
            </a:r>
            <a:r>
              <a:rPr lang="it-IT" dirty="0" err="1"/>
              <a:t>nmm</a:t>
            </a:r>
            <a:r>
              <a:rPr lang="it-IT" dirty="0"/>
              <a:t>": "</a:t>
            </a:r>
            <a:r>
              <a:rPr lang="it-IT" dirty="0" err="1"/>
              <a:t>neutral</a:t>
            </a:r>
            <a:r>
              <a:rPr lang="it-IT" dirty="0"/>
              <a:t>"},</a:t>
            </a:r>
          </a:p>
          <a:p>
            <a:r>
              <a:rPr lang="it-IT" dirty="0"/>
              <a:t>    {"gloss": "VEDERE", "</a:t>
            </a:r>
            <a:r>
              <a:rPr lang="it-IT" dirty="0" err="1"/>
              <a:t>role</a:t>
            </a:r>
            <a:r>
              <a:rPr lang="it-IT" dirty="0"/>
              <a:t>": "VERB_INFLECTED", "from": "</a:t>
            </a:r>
            <a:r>
              <a:rPr lang="it-IT" dirty="0" err="1"/>
              <a:t>neutral</a:t>
            </a:r>
            <a:r>
              <a:rPr lang="it-IT" dirty="0"/>
              <a:t>", "to": "</a:t>
            </a:r>
            <a:r>
              <a:rPr lang="it-IT" dirty="0" err="1"/>
              <a:t>loc_A</a:t>
            </a:r>
            <a:r>
              <a:rPr lang="it-IT" dirty="0"/>
              <a:t>"},</a:t>
            </a:r>
          </a:p>
          <a:p>
            <a:r>
              <a:rPr lang="it-IT" dirty="0"/>
              <a:t>    {"gloss": "DOMANDA_POLARE", "</a:t>
            </a:r>
            <a:r>
              <a:rPr lang="it-IT" dirty="0" err="1"/>
              <a:t>role</a:t>
            </a:r>
            <a:r>
              <a:rPr lang="it-IT" dirty="0"/>
              <a:t>": "OPERATOR", "</a:t>
            </a:r>
            <a:r>
              <a:rPr lang="it-IT" dirty="0" err="1"/>
              <a:t>nmm</a:t>
            </a:r>
            <a:r>
              <a:rPr lang="it-IT" dirty="0"/>
              <a:t>": "</a:t>
            </a:r>
            <a:r>
              <a:rPr lang="it-IT" dirty="0" err="1"/>
              <a:t>head_tilt_forward</a:t>
            </a:r>
            <a:r>
              <a:rPr lang="it-IT" dirty="0"/>
              <a:t>"}</a:t>
            </a:r>
          </a:p>
          <a:p>
            <a:r>
              <a:rPr lang="it-IT" dirty="0"/>
              <a:t>  ],</a:t>
            </a:r>
          </a:p>
          <a:p>
            <a:r>
              <a:rPr lang="it-IT" dirty="0"/>
              <a:t>  "</a:t>
            </a:r>
            <a:r>
              <a:rPr lang="it-IT" dirty="0" err="1"/>
              <a:t>spatial_map</a:t>
            </a:r>
            <a:r>
              <a:rPr lang="it-IT" dirty="0"/>
              <a:t>": { "</a:t>
            </a:r>
            <a:r>
              <a:rPr lang="it-IT" dirty="0" err="1"/>
              <a:t>loc_A</a:t>
            </a:r>
            <a:r>
              <a:rPr lang="it-IT" dirty="0"/>
              <a:t>": "GATTO" }</a:t>
            </a:r>
          </a:p>
          <a:p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05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91F86-2EEF-36AB-491F-497DE028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0617D8-FDA6-478B-B83F-628173D3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6682573" cy="580799"/>
          </a:xfrm>
        </p:spPr>
        <p:txBody>
          <a:bodyPr/>
          <a:lstStyle/>
          <a:p>
            <a:r>
              <a:rPr lang="it-IT" dirty="0"/>
              <a:t>Il Ruolo del RAG e del Lessico Annotato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8F8B4-3413-4956-B1A0-6E5984279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Perché l'LLM non basta?</a:t>
            </a:r>
            <a:r>
              <a:rPr lang="it-IT" dirty="0"/>
              <a:t> L'LLM tende a "tradurre" parola per parola. Il RAG interviene fornendo:</a:t>
            </a:r>
          </a:p>
          <a:p>
            <a:r>
              <a:rPr lang="it-IT" b="1" dirty="0" err="1"/>
              <a:t>Constraint</a:t>
            </a:r>
            <a:r>
              <a:rPr lang="it-IT" b="1" dirty="0"/>
              <a:t> Injection:</a:t>
            </a:r>
            <a:r>
              <a:rPr lang="it-IT" dirty="0"/>
              <a:t> "Se la frase è interrogativa, aggiungi il tag NMM specifico alla fine."</a:t>
            </a:r>
          </a:p>
          <a:p>
            <a:r>
              <a:rPr lang="it-IT" b="1" dirty="0" err="1"/>
              <a:t>Sign-Lookup</a:t>
            </a:r>
            <a:r>
              <a:rPr lang="it-IT" b="1" dirty="0"/>
              <a:t>:</a:t>
            </a:r>
            <a:r>
              <a:rPr lang="it-IT" dirty="0"/>
              <a:t> Se l'LLM vuole usare il verbo "Mangiare", il RAG gli "passa" i metadati del segno (es. è un verbo manuale, usa lo spazio neutro) per garantire che la frase generata sia fisicamente realizzabile da un avatar o interprete.</a:t>
            </a:r>
          </a:p>
        </p:txBody>
      </p:sp>
    </p:spTree>
    <p:extLst>
      <p:ext uri="{BB962C8B-B14F-4D97-AF65-F5344CB8AC3E}">
        <p14:creationId xmlns:p14="http://schemas.microsoft.com/office/powerpoint/2010/main" val="360119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D09E-8348-9A8B-639B-1974E2C9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667" y="1230225"/>
            <a:ext cx="6560653" cy="580799"/>
          </a:xfrm>
        </p:spPr>
        <p:txBody>
          <a:bodyPr/>
          <a:lstStyle/>
          <a:p>
            <a:r>
              <a:rPr lang="it-IT" dirty="0"/>
              <a:t>Strategia di Validazione e Fine-Tuning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9B396-C845-6E74-323D-6418AEA1F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Fase 1: Human-in-the-loop (HITL)</a:t>
            </a:r>
            <a:endParaRPr lang="it-IT" dirty="0"/>
          </a:p>
          <a:p>
            <a:r>
              <a:rPr lang="it-IT" dirty="0"/>
              <a:t>Un campione del 10% del dataset viene revisionato da esperti LIS per correggere le allucinazioni sintattiche.</a:t>
            </a:r>
          </a:p>
          <a:p>
            <a:r>
              <a:rPr lang="it-IT" b="1" dirty="0"/>
              <a:t>Fase 2: Fine-Tuning del modello finale</a:t>
            </a:r>
            <a:endParaRPr lang="it-IT" dirty="0"/>
          </a:p>
          <a:p>
            <a:r>
              <a:rPr lang="it-IT" dirty="0"/>
              <a:t>Il dataset sintetico prodotto (es. 50.000 frasi) viene usato per addestrare un modello più piccolo (es. Llama-3-8B) specializzato esclusivamente in </a:t>
            </a:r>
            <a:r>
              <a:rPr lang="it-IT" b="1" dirty="0"/>
              <a:t>Italiano -&gt; LIS </a:t>
            </a:r>
            <a:r>
              <a:rPr lang="it-IT" b="1" dirty="0" err="1"/>
              <a:t>Glosses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92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06C8-001B-28F7-80EB-61A5F394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 e Scalabilità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28FD4-5102-4262-1932-5DE1CB49A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Impatto:</a:t>
            </a:r>
            <a:r>
              <a:rPr lang="it-IT" dirty="0"/>
              <a:t> Creazione del primo grande dataset sintetico strutturato per la LIS.</a:t>
            </a:r>
          </a:p>
          <a:p>
            <a:r>
              <a:rPr lang="it-IT" b="1" dirty="0"/>
              <a:t>Scalabilità:</a:t>
            </a:r>
            <a:r>
              <a:rPr lang="it-IT" dirty="0"/>
              <a:t> Una volta validato il subset, il metodo è estendibile a classificatori, verbi psicologici e forme idiomatiche.</a:t>
            </a:r>
          </a:p>
          <a:p>
            <a:r>
              <a:rPr lang="it-IT" b="1" dirty="0"/>
              <a:t>Open Science:</a:t>
            </a:r>
            <a:r>
              <a:rPr lang="it-IT" dirty="0"/>
              <a:t> Il dataset potrà essere rilasciato per alimentare la ricerca su Avatar 3D e traduttori automatici.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274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425B-F930-EBA0-F189-F0A7E3F2F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C75AB-3AA6-C4CF-8A29-EC64F95FB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2000" b="1" dirty="0"/>
              <a:t>Suggerimenti per migliorare il tuo progetto:</a:t>
            </a:r>
          </a:p>
          <a:p>
            <a:r>
              <a:rPr lang="it-IT" sz="2000" b="1" dirty="0"/>
              <a:t>Aggiungi il concetto di "</a:t>
            </a:r>
            <a:r>
              <a:rPr lang="it-IT" sz="2000" b="1" dirty="0" err="1"/>
              <a:t>Prosody</a:t>
            </a:r>
            <a:r>
              <a:rPr lang="it-IT" sz="2000" b="1" dirty="0"/>
              <a:t> </a:t>
            </a:r>
            <a:r>
              <a:rPr lang="it-IT" sz="2000" b="1" dirty="0" err="1"/>
              <a:t>Modeling</a:t>
            </a:r>
            <a:r>
              <a:rPr lang="it-IT" sz="2000" b="1" dirty="0"/>
              <a:t>":</a:t>
            </a:r>
            <a:r>
              <a:rPr lang="it-IT" sz="2000" dirty="0"/>
              <a:t> In LIS, il ritmo e le pause sono fondamentali. Nel tuo JSON, potresti aggiungere un campo </a:t>
            </a:r>
            <a:r>
              <a:rPr lang="it-IT" sz="2000" dirty="0" err="1"/>
              <a:t>duration_modifier</a:t>
            </a:r>
            <a:r>
              <a:rPr lang="it-IT" sz="2000" dirty="0"/>
              <a:t> o pause.</a:t>
            </a:r>
          </a:p>
          <a:p>
            <a:r>
              <a:rPr lang="it-IT" sz="2000" b="1" dirty="0"/>
              <a:t>Multimodalità:</a:t>
            </a:r>
            <a:r>
              <a:rPr lang="it-IT" sz="2000" dirty="0"/>
              <a:t> Se possibile, specifica che il dataset potrà essere accoppiato in futuro con video </a:t>
            </a:r>
            <a:r>
              <a:rPr lang="it-IT" sz="2000" dirty="0" err="1"/>
              <a:t>reference</a:t>
            </a:r>
            <a:r>
              <a:rPr lang="it-IT" sz="2000" dirty="0"/>
              <a:t> (usando ad esempio il dataset </a:t>
            </a:r>
            <a:r>
              <a:rPr lang="it-IT" sz="2000" i="1" dirty="0"/>
              <a:t>LIP</a:t>
            </a:r>
            <a:r>
              <a:rPr lang="it-IT" sz="2000" dirty="0"/>
              <a:t> o </a:t>
            </a:r>
            <a:r>
              <a:rPr lang="it-IT" sz="2000" i="1" dirty="0"/>
              <a:t>PHEOENIX</a:t>
            </a:r>
            <a:r>
              <a:rPr lang="it-IT" sz="2000" dirty="0"/>
              <a:t> per il transfer learning).</a:t>
            </a:r>
          </a:p>
          <a:p>
            <a:r>
              <a:rPr lang="it-IT" sz="2000" b="1" dirty="0"/>
              <a:t>Chain of </a:t>
            </a:r>
            <a:r>
              <a:rPr lang="it-IT" sz="2000" b="1" dirty="0" err="1"/>
              <a:t>Thought</a:t>
            </a:r>
            <a:r>
              <a:rPr lang="it-IT" sz="2000" b="1" dirty="0"/>
              <a:t> (</a:t>
            </a:r>
            <a:r>
              <a:rPr lang="it-IT" sz="2000" b="1" dirty="0" err="1"/>
              <a:t>CoT</a:t>
            </a:r>
            <a:r>
              <a:rPr lang="it-IT" sz="2000" b="1" dirty="0"/>
              <a:t>):</a:t>
            </a:r>
            <a:r>
              <a:rPr lang="it-IT" sz="2000" dirty="0"/>
              <a:t> Nel prompt per l'LLM, chiedigli di fare prima il </a:t>
            </a:r>
            <a:r>
              <a:rPr lang="it-IT" sz="2000" dirty="0" err="1"/>
              <a:t>parsing</a:t>
            </a:r>
            <a:r>
              <a:rPr lang="it-IT" sz="2000" dirty="0"/>
              <a:t> sintattico dell'italiano (Soggetto, Verbo, Oggetto) e poi applicare le trasformazioni LIS (es. Spostamento dell'Oggetto in posizione di Topic). Questo riduce drasticamente gli errori.</a:t>
            </a:r>
          </a:p>
          <a:p>
            <a:r>
              <a:rPr lang="it-IT" sz="2000" dirty="0"/>
              <a:t>Cosa ne pensi di questa struttura? Se serve, posso approfondire la parte del </a:t>
            </a:r>
            <a:r>
              <a:rPr lang="it-IT" sz="2000" b="1" dirty="0"/>
              <a:t>Prompt Engineering</a:t>
            </a:r>
            <a:r>
              <a:rPr lang="it-IT" sz="2000" dirty="0"/>
              <a:t> specifico per il RAG.</a:t>
            </a:r>
          </a:p>
          <a:p>
            <a:pPr marL="153596" indent="0">
              <a:buNone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4845044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myViola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FFC000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CC0000"/>
      </a:hlink>
      <a:folHlink>
        <a:srgbClr val="CC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2F488EC-0EF9-499B-9E19-2C17DDD736C7}" vid="{9E8C3073-3D0F-4AC9-AF14-F0EC738926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137</TotalTime>
  <Words>930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Google Sans</vt:lpstr>
      <vt:lpstr>Lora</vt:lpstr>
      <vt:lpstr>Quattrocento Sans</vt:lpstr>
      <vt:lpstr>Theme1</vt:lpstr>
      <vt:lpstr>LIS-Synthetic-Gen</vt:lpstr>
      <vt:lpstr>Visione e Obiettivi</vt:lpstr>
      <vt:lpstr>Lo Stato dell'Arte e Fondamenti Scientifici</vt:lpstr>
      <vt:lpstr>Architettura del Sistema (The Pipeline)</vt:lpstr>
      <vt:lpstr>Il Subset Linguistico (Focus Areas)</vt:lpstr>
      <vt:lpstr>Schema di Annotazione JSON (Proposta)</vt:lpstr>
      <vt:lpstr>Il Ruolo del RAG e del Lessico Annotato</vt:lpstr>
      <vt:lpstr>Strategia di Validazione e Fine-Tuning</vt:lpstr>
      <vt:lpstr>Conclusioni e Scalabilità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MAZZOLI SIMONE</dc:creator>
  <cp:lastModifiedBy>MAZZOLI SIMONE</cp:lastModifiedBy>
  <cp:revision>2</cp:revision>
  <dcterms:created xsi:type="dcterms:W3CDTF">2026-04-21T12:28:22Z</dcterms:created>
  <dcterms:modified xsi:type="dcterms:W3CDTF">2026-04-24T16:13:31Z</dcterms:modified>
</cp:coreProperties>
</file>